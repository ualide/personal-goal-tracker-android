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81" r:id="rId8"/>
    <p:sldId id="279" r:id="rId9"/>
    <p:sldId id="259" r:id="rId10"/>
    <p:sldId id="269" r:id="rId11"/>
    <p:sldId id="260" r:id="rId12"/>
    <p:sldId id="261" r:id="rId13"/>
    <p:sldId id="264" r:id="rId14"/>
    <p:sldId id="265" r:id="rId15"/>
    <p:sldId id="278" r:id="rId16"/>
    <p:sldId id="266" r:id="rId17"/>
    <p:sldId id="302" r:id="rId18"/>
    <p:sldId id="303" r:id="rId19"/>
    <p:sldId id="304" r:id="rId20"/>
    <p:sldId id="268" r:id="rId21"/>
    <p:sldId id="270" r:id="rId22"/>
    <p:sldId id="271" r:id="rId23"/>
    <p:sldId id="272" r:id="rId24"/>
    <p:sldId id="305" r:id="rId25"/>
    <p:sldId id="273" r:id="rId26"/>
    <p:sldId id="275" r:id="rId27"/>
    <p:sldId id="274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D7D7D7"/>
    <a:srgbClr val="1155CC"/>
    <a:srgbClr val="013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728" autoAdjust="0"/>
  </p:normalViewPr>
  <p:slideViewPr>
    <p:cSldViewPr snapToGrid="0">
      <p:cViewPr varScale="1">
        <p:scale>
          <a:sx n="69" d="100"/>
          <a:sy n="69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hyperlink" Target="V2.mp4" TargetMode="External"/><Relationship Id="rId1" Type="http://schemas.openxmlformats.org/officeDocument/2006/relationships/hyperlink" Target="VideoDeDemonstration.mp4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523" y="211138"/>
            <a:ext cx="2295525" cy="10864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550160" y="324485"/>
            <a:ext cx="7091045" cy="859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 i="0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Royaume du Maroc</a:t>
            </a:r>
            <a:endParaRPr sz="1200" b="0" i="0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UNIVERSITÉ</a:t>
            </a:r>
            <a:r>
              <a:rPr lang="fr-FR" sz="1200" b="1" i="0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IBN ZOHR</a:t>
            </a:r>
            <a:endParaRPr sz="1200" b="0" i="0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FACULTÉ DES SCIENCES</a:t>
            </a:r>
            <a:r>
              <a:rPr lang="fr-FR"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AGADIR</a:t>
            </a:r>
            <a:endParaRPr sz="1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Département Informatique</a:t>
            </a:r>
            <a:endParaRPr sz="1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91883" y="224647"/>
            <a:ext cx="984150" cy="1073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 Box 99"/>
          <p:cNvSpPr txBox="1"/>
          <p:nvPr/>
        </p:nvSpPr>
        <p:spPr>
          <a:xfrm>
            <a:off x="3556000" y="15417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b="1" i="1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Projet de Fin d’Etudes</a:t>
            </a:r>
            <a:endParaRPr lang="en-US"/>
          </a:p>
        </p:txBody>
      </p:sp>
      <p:cxnSp>
        <p:nvCxnSpPr>
          <p:cNvPr id="5" name="Google Shape;87;p1"/>
          <p:cNvCxnSpPr/>
          <p:nvPr/>
        </p:nvCxnSpPr>
        <p:spPr>
          <a:xfrm flipV="1">
            <a:off x="415290" y="1414145"/>
            <a:ext cx="11522075" cy="12065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3555365" y="226758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18770" algn="ctr"/>
            <a:r>
              <a:rPr lang="en-US" b="0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Filière Sciences Mathématiques et Informatique</a:t>
            </a:r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3410585" y="2993390"/>
            <a:ext cx="5532755" cy="110426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0" algn="ctr"/>
            <a:r>
              <a:rPr lang="en-US" b="1">
                <a:latin typeface="Times New Roman" panose="02020603050405020304" charset="0"/>
                <a:ea typeface="SimSun" panose="02010600030101010101" pitchFamily="2" charset="-122"/>
                <a:sym typeface="+mn-ea"/>
              </a:rPr>
              <a:t>Mise en place d’une application mobile pour gérer les objectifs personnels</a:t>
            </a:r>
            <a:endParaRPr lang="en-US"/>
          </a:p>
        </p:txBody>
      </p:sp>
      <p:sp>
        <p:nvSpPr>
          <p:cNvPr id="94" name="Google Shape;94;p1"/>
          <p:cNvSpPr txBox="1"/>
          <p:nvPr/>
        </p:nvSpPr>
        <p:spPr>
          <a:xfrm>
            <a:off x="911423" y="4691160"/>
            <a:ext cx="2384931" cy="110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lstStyle/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Réalisé et soutenu par :</a:t>
            </a:r>
            <a:endParaRPr sz="1400" b="1" i="1" cap="none">
              <a:solidFill>
                <a:srgbClr val="4472C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 panose="02020404030301010803"/>
              <a:buNone/>
            </a:pPr>
            <a:r>
              <a:rPr lang="fr-FR" sz="1400"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Oussama ETTAOUIL</a:t>
            </a:r>
            <a:endParaRPr lang="fr-FR" sz="1400"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 panose="02020404030301010803"/>
              <a:buNone/>
            </a:pPr>
            <a:r>
              <a:rPr lang="fr-FR" sz="1400"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Oualid OUARRACH</a:t>
            </a:r>
            <a:endParaRPr lang="fr-FR" sz="1400"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485784" y="4703892"/>
            <a:ext cx="2880320" cy="146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lstStyle/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Encadré Par :</a:t>
            </a:r>
            <a:endParaRPr lang="fr-FR" sz="1400" b="1" i="1" cap="none">
              <a:solidFill>
                <a:srgbClr val="4472C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0" i="0" cap="none">
                <a:solidFill>
                  <a:srgbClr val="000000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Mohamed BENSALAH </a:t>
            </a:r>
            <a:endParaRPr sz="1400" b="0" i="0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b="0" i="0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215732" y="4691160"/>
            <a:ext cx="3397148" cy="105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Garamond" panose="02020404030301010803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Membres du jury :</a:t>
            </a:r>
            <a:endParaRPr sz="1400" b="0" i="0" cap="none">
              <a:solidFill>
                <a:srgbClr val="4472C4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R="0" indent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Garamond" panose="02020404030301010803"/>
              <a:buNone/>
            </a:pPr>
            <a:r>
              <a:rPr lang="fr-FR" sz="1400" b="0" i="0" cap="none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</a:t>
            </a:r>
            <a:r>
              <a:rPr lang="fr-FR" sz="1400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Ayoub SABRAOUI</a:t>
            </a:r>
            <a:endParaRPr lang="fr-FR" sz="1400">
              <a:solidFill>
                <a:srgbClr val="0C0C0C"/>
              </a:solidFill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  <a:p>
            <a:pPr marR="0" indent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Garamond" panose="02020404030301010803"/>
              <a:buNone/>
            </a:pPr>
            <a:r>
              <a:rPr lang="fr-FR" sz="1400" b="0" i="0" cap="none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</a:t>
            </a:r>
            <a:r>
              <a:rPr lang="fr-FR" sz="1400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Brahim ALIBOUCH</a:t>
            </a:r>
            <a:endParaRPr sz="1400" b="0" i="0" cap="none">
              <a:solidFill>
                <a:srgbClr val="0C0C0C"/>
              </a:solidFill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36645" y="634174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b="0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Année universitaire 2022-2023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215345" y="283347"/>
            <a:ext cx="73448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 panose="020B0604020202020204"/>
              <a:buNone/>
            </a:pPr>
            <a:r>
              <a:rPr lang="fr-FR" sz="54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 de la présentation:</a:t>
            </a:r>
            <a:endParaRPr sz="1400" b="1" i="0" u="none" strike="noStrike" cap="none">
              <a:solidFill>
                <a:srgbClr val="1155CC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30555" y="1549400"/>
            <a:ext cx="10393045" cy="47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fr-FR" sz="3200" b="1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Contexte général du projet</a:t>
            </a:r>
            <a:endParaRPr sz="3200" b="1">
              <a:solidFill>
                <a:srgbClr val="3C78D8"/>
              </a:solidFill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et conception</a:t>
            </a:r>
            <a:endParaRPr sz="3200" b="1">
              <a:solidFill>
                <a:srgbClr val="3C78D8"/>
              </a:solidFill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Environnement et langages utilisés</a:t>
            </a:r>
            <a:endParaRPr lang="fr-FR" sz="3200" b="1" i="0" u="none" strike="noStrike" cap="none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Démonstration</a:t>
            </a:r>
            <a:endParaRPr lang="fr-FR" sz="3200" b="1" i="0" u="none" strike="noStrike" cap="none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Font typeface="+mj-lt"/>
              <a:buAutoNum type="arabicPeriod"/>
            </a:pPr>
            <a:r>
              <a:rPr lang="fr-FR" sz="3200" b="1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et perspectives</a:t>
            </a:r>
            <a:endParaRPr lang="fr-FR" sz="3200" b="1" i="0" u="none" strike="noStrike" cap="none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3200"/>
              <a:buAutoNum type="arabicPeriod"/>
            </a:pPr>
            <a:endParaRPr sz="3200" b="1" i="0" u="none" strike="noStrike" cap="none">
              <a:solidFill>
                <a:srgbClr val="3C78D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2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Introduction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45" name="Picture 44" descr="bpm-goa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7680" y="1151255"/>
            <a:ext cx="5126355" cy="5126355"/>
          </a:xfrm>
          <a:prstGeom prst="rect">
            <a:avLst/>
          </a:prstGeom>
        </p:spPr>
      </p:pic>
      <p:sp>
        <p:nvSpPr>
          <p:cNvPr id="47" name="Google Shape;131;p5"/>
          <p:cNvSpPr txBox="1"/>
          <p:nvPr/>
        </p:nvSpPr>
        <p:spPr>
          <a:xfrm>
            <a:off x="1328420" y="1867535"/>
            <a:ext cx="613600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Objectifs variés et tâches multiples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Manque de temps et motivation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Difficulté de mémorisation et d'organisation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38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2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3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4" name="Google Shape;129;p5"/>
          <p:cNvSpPr txBox="1"/>
          <p:nvPr/>
        </p:nvSpPr>
        <p:spPr>
          <a:xfrm>
            <a:off x="10271125" y="910590"/>
            <a:ext cx="1520825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20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8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9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0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1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52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3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5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6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7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8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9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39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0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2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3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4" name="Google Shape;129;p5"/>
          <p:cNvSpPr txBox="1"/>
          <p:nvPr/>
        </p:nvSpPr>
        <p:spPr>
          <a:xfrm>
            <a:off x="10986135" y="910590"/>
            <a:ext cx="805815" cy="26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Solution</a:t>
            </a:r>
            <a:endParaRPr lang="fr-FR" sz="120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5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8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9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0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1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52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3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5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6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7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8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9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2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Contexte général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64" name="Google Shape;131;p5"/>
          <p:cNvSpPr txBox="1"/>
          <p:nvPr/>
        </p:nvSpPr>
        <p:spPr>
          <a:xfrm>
            <a:off x="1328420" y="1867535"/>
            <a:ext cx="8829040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Application mobile Android de gestion des objectifs personnels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Accessibilité et simplicité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Fonctionnalités efficaces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3" name="Picture 2" descr="mobile_android_1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510" y="2332355"/>
            <a:ext cx="4107815" cy="4324350"/>
          </a:xfrm>
          <a:prstGeom prst="rect">
            <a:avLst/>
          </a:prstGeom>
        </p:spPr>
      </p:pic>
      <p:pic>
        <p:nvPicPr>
          <p:cNvPr id="4" name="Picture 3" descr="Logo-Andro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3429635"/>
            <a:ext cx="4312920" cy="2426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39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0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2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3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Solution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4" name="Google Shape;129;p5"/>
          <p:cNvSpPr txBox="1"/>
          <p:nvPr/>
        </p:nvSpPr>
        <p:spPr>
          <a:xfrm>
            <a:off x="10222865" y="910590"/>
            <a:ext cx="173418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Planning du projet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5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8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9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0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1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52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3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5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6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7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8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9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2" name="Google Shape;132;p5"/>
          <p:cNvSpPr txBox="1"/>
          <p:nvPr/>
        </p:nvSpPr>
        <p:spPr>
          <a:xfrm>
            <a:off x="307340" y="1408430"/>
            <a:ext cx="7792085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Solution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163" name="Picture 162" descr="Problematiq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5585" y="2087880"/>
            <a:ext cx="4485005" cy="4478655"/>
          </a:xfrm>
          <a:prstGeom prst="rect">
            <a:avLst/>
          </a:prstGeom>
        </p:spPr>
      </p:pic>
      <p:sp>
        <p:nvSpPr>
          <p:cNvPr id="164" name="Google Shape;131;p5"/>
          <p:cNvSpPr txBox="1"/>
          <p:nvPr/>
        </p:nvSpPr>
        <p:spPr>
          <a:xfrm>
            <a:off x="459740" y="1867535"/>
            <a:ext cx="986853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Un utilisateur peut créer un compte et se connecter à l’application mobile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Peut ajouter des objectifs personnels et les gérer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Suivre l’accomplissement de ses objectifs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39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0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1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2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3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Planning du projet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4" name="Google Shape;129;p5"/>
          <p:cNvSpPr txBox="1"/>
          <p:nvPr/>
        </p:nvSpPr>
        <p:spPr>
          <a:xfrm>
            <a:off x="9880600" y="910590"/>
            <a:ext cx="1869440" cy="29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5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8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9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0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1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52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3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54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5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6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7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8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9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2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Gantt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4" name="Picture 3" descr="Diagramme de Gantt révis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80" y="1884045"/>
            <a:ext cx="9738995" cy="4702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Fonctionnalités</a:t>
            </a:r>
            <a:endParaRPr lang="fr-FR" sz="1200" b="1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7" name="Google Shape;129;p5"/>
          <p:cNvSpPr txBox="1"/>
          <p:nvPr/>
        </p:nvSpPr>
        <p:spPr>
          <a:xfrm>
            <a:off x="10673715" y="895350"/>
            <a:ext cx="1104265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Conception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3" name="Google Shape;131;p5"/>
          <p:cNvSpPr txBox="1"/>
          <p:nvPr/>
        </p:nvSpPr>
        <p:spPr>
          <a:xfrm>
            <a:off x="1328420" y="1867535"/>
            <a:ext cx="3711575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Authentification</a:t>
            </a:r>
            <a:endParaRPr lang="fr-FR"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Consultation des thèmes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Gestion des objectifs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 dirty="0" err="1" smtClean="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Fonctionnalités</a:t>
            </a:r>
            <a:r>
              <a:rPr lang="fr-FR" sz="2400" b="1" dirty="0" smtClean="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</a:t>
            </a:r>
            <a:r>
              <a:rPr lang="fr-FR" sz="2400" b="1" dirty="0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Conception</a:t>
            </a:r>
            <a:endParaRPr lang="fr-FR" sz="1200" b="1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7" name="Google Shape;129;p5"/>
          <p:cNvSpPr txBox="1"/>
          <p:nvPr/>
        </p:nvSpPr>
        <p:spPr>
          <a:xfrm>
            <a:off x="9272270" y="895350"/>
            <a:ext cx="2631440" cy="27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cas d’utilisation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3" name="Google Shape;131;p5"/>
          <p:cNvSpPr txBox="1"/>
          <p:nvPr/>
        </p:nvSpPr>
        <p:spPr>
          <a:xfrm>
            <a:off x="1328420" y="1867535"/>
            <a:ext cx="5572760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cas d’utilisation</a:t>
            </a:r>
            <a:endParaRPr lang="fr-FR"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classes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séquence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Schéma relationnel de la base de données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Conception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cas d’utilisation</a:t>
            </a:r>
            <a:endParaRPr lang="fr-FR" sz="1200" b="1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7" name="Google Shape;129;p5"/>
          <p:cNvSpPr txBox="1"/>
          <p:nvPr/>
        </p:nvSpPr>
        <p:spPr>
          <a:xfrm>
            <a:off x="9902825" y="895350"/>
            <a:ext cx="2154555" cy="30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classes</a:t>
            </a:r>
            <a:endParaRPr lang="fr-FR" sz="120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7D7D7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38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des cas d’utilisation de l’utilisateur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3" name="Picture 2" descr="Utilisateu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0" y="1787525"/>
            <a:ext cx="4753610" cy="5065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pic>
        <p:nvPicPr>
          <p:cNvPr id="41" name="Picture 40" descr="Administrateu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935" y="2087880"/>
            <a:ext cx="9996805" cy="4241165"/>
          </a:xfrm>
          <a:prstGeom prst="rect">
            <a:avLst/>
          </a:prstGeom>
        </p:spPr>
      </p:pic>
      <p:sp>
        <p:nvSpPr>
          <p:cNvPr id="42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cas d’utilisation</a:t>
            </a:r>
            <a:endParaRPr lang="fr-FR" sz="1200" b="1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4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4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7D7D7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6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cas d’utilisation de l’administrateur :</a:t>
            </a:r>
            <a:endParaRPr lang="fr-FR" sz="2400" b="1" i="0" u="none" strike="noStrike" cap="none">
              <a:solidFill>
                <a:srgbClr val="000000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47" name="Google Shape;129;p5"/>
          <p:cNvSpPr txBox="1"/>
          <p:nvPr/>
        </p:nvSpPr>
        <p:spPr>
          <a:xfrm>
            <a:off x="9902825" y="895350"/>
            <a:ext cx="2154555" cy="30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classes</a:t>
            </a:r>
            <a:endParaRPr lang="fr-FR" sz="120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classes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7" name="Google Shape;129;p5"/>
          <p:cNvSpPr txBox="1"/>
          <p:nvPr/>
        </p:nvSpPr>
        <p:spPr>
          <a:xfrm>
            <a:off x="9697085" y="895350"/>
            <a:ext cx="2164715" cy="26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classes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classes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" name="Google Shape;129;p5"/>
          <p:cNvSpPr txBox="1"/>
          <p:nvPr/>
        </p:nvSpPr>
        <p:spPr>
          <a:xfrm>
            <a:off x="9697085" y="895350"/>
            <a:ext cx="2164715" cy="26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8" name="Picture 7" descr="dia_classes_fin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8615" y="865505"/>
            <a:ext cx="6165215" cy="5972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5" name="Google Shape;129;p5"/>
          <p:cNvSpPr txBox="1"/>
          <p:nvPr/>
        </p:nvSpPr>
        <p:spPr>
          <a:xfrm>
            <a:off x="8387080" y="895350"/>
            <a:ext cx="3376930" cy="4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8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séquence d’administrateur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5" name="Google Shape;129;p5"/>
          <p:cNvSpPr txBox="1"/>
          <p:nvPr/>
        </p:nvSpPr>
        <p:spPr>
          <a:xfrm>
            <a:off x="9338310" y="895350"/>
            <a:ext cx="2467610" cy="4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3" name="Picture 2" descr="Nouveau proj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180" y="837565"/>
            <a:ext cx="5630545" cy="597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9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0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1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2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3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6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8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9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0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1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2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3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4" name="Google Shape;129;p5"/>
          <p:cNvSpPr txBox="1"/>
          <p:nvPr/>
        </p:nvSpPr>
        <p:spPr>
          <a:xfrm>
            <a:off x="8387080" y="895350"/>
            <a:ext cx="3376930" cy="4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25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Diagramme de séquence de gestion des sous-thèmes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9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0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1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2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3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4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15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16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8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9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0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1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2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3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4" name="Google Shape;129;p5"/>
          <p:cNvSpPr txBox="1"/>
          <p:nvPr/>
        </p:nvSpPr>
        <p:spPr>
          <a:xfrm>
            <a:off x="8917305" y="895350"/>
            <a:ext cx="2978785" cy="60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5" name="Picture 4" descr="DIAG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0" y="941070"/>
            <a:ext cx="5908675" cy="59620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26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7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8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29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30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Diagramme de séquence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31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32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33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34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35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36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7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38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39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0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1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2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3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47" name="Google Shape;129;p5"/>
          <p:cNvSpPr txBox="1"/>
          <p:nvPr/>
        </p:nvSpPr>
        <p:spPr>
          <a:xfrm>
            <a:off x="8917305" y="895350"/>
            <a:ext cx="2978785" cy="60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3" name="Picture 2" descr="Nouveau proj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7410" y="1196975"/>
            <a:ext cx="7670800" cy="5494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Schéma relationnel de la base de données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pic>
        <p:nvPicPr>
          <p:cNvPr id="5" name="Picture 4" descr="Schéma de la base de donné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535" y="982345"/>
            <a:ext cx="5114290" cy="5798185"/>
          </a:xfrm>
          <a:prstGeom prst="rect">
            <a:avLst/>
          </a:prstGeom>
        </p:spPr>
      </p:pic>
      <p:sp>
        <p:nvSpPr>
          <p:cNvPr id="6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Schéma relationnel de la base de données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" name="Google Shape;129;p5"/>
          <p:cNvSpPr txBox="1"/>
          <p:nvPr/>
        </p:nvSpPr>
        <p:spPr>
          <a:xfrm>
            <a:off x="9566910" y="895350"/>
            <a:ext cx="2266950" cy="290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Environnement de développement : Android Studio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0864215" y="895350"/>
            <a:ext cx="1025525" cy="290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Langages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83" name="Google Shape;131;p5"/>
          <p:cNvSpPr txBox="1"/>
          <p:nvPr/>
        </p:nvSpPr>
        <p:spPr>
          <a:xfrm>
            <a:off x="1328420" y="1867535"/>
            <a:ext cx="6300470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Intégration complète avec Android</a:t>
            </a:r>
            <a:endParaRPr lang="fr-FR"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Interface conviviale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Outils de développement avancés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Débogage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Prise en charge des langages de programmation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16" name="Picture 15" descr="Pict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095" y="1588770"/>
            <a:ext cx="3848100" cy="2438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Langages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Langages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1157585" y="924560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Outils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83" name="Google Shape;131;p5"/>
          <p:cNvSpPr txBox="1"/>
          <p:nvPr/>
        </p:nvSpPr>
        <p:spPr>
          <a:xfrm>
            <a:off x="1328420" y="1867535"/>
            <a:ext cx="3183890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Kotlin</a:t>
            </a:r>
            <a:endParaRPr lang="fr-FR"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Java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UML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XML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4" name="Picture 3" descr="Pictur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4058920"/>
            <a:ext cx="1079500" cy="1079500"/>
          </a:xfrm>
          <a:prstGeom prst="rect">
            <a:avLst/>
          </a:prstGeom>
        </p:spPr>
      </p:pic>
      <p:pic>
        <p:nvPicPr>
          <p:cNvPr id="5" name="Picture 4" descr="Pictur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45" y="3948430"/>
            <a:ext cx="698500" cy="1301115"/>
          </a:xfrm>
          <a:prstGeom prst="rect">
            <a:avLst/>
          </a:prstGeom>
        </p:spPr>
      </p:pic>
      <p:pic>
        <p:nvPicPr>
          <p:cNvPr id="6" name="Picture 5" descr="Picture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80" y="4086225"/>
            <a:ext cx="1670685" cy="1217930"/>
          </a:xfrm>
          <a:prstGeom prst="rect">
            <a:avLst/>
          </a:prstGeom>
        </p:spPr>
      </p:pic>
      <p:pic>
        <p:nvPicPr>
          <p:cNvPr id="7" name="Picture 6" descr="Picture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900" y="4113530"/>
            <a:ext cx="1162685" cy="116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Outils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Outils 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0479405" y="924560"/>
            <a:ext cx="126873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2" name="Picture 1" descr="firebas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585" y="2087880"/>
            <a:ext cx="7882890" cy="3321050"/>
          </a:xfrm>
          <a:prstGeom prst="rect">
            <a:avLst/>
          </a:prstGeom>
        </p:spPr>
      </p:pic>
      <p:sp>
        <p:nvSpPr>
          <p:cNvPr id="3" name="Google Shape;131;p5"/>
          <p:cNvSpPr txBox="1"/>
          <p:nvPr/>
        </p:nvSpPr>
        <p:spPr>
          <a:xfrm>
            <a:off x="1328420" y="1867535"/>
            <a:ext cx="399224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Firebase</a:t>
            </a:r>
            <a:endParaRPr lang="fr-FR" sz="2400" b="0" i="0" u="none" strike="noStrike" cap="none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Outils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0479405" y="924560"/>
            <a:ext cx="126873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pic>
        <p:nvPicPr>
          <p:cNvPr id="9" name="Picture 8" descr="Picture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3832225"/>
            <a:ext cx="1549400" cy="1642745"/>
          </a:xfrm>
          <a:prstGeom prst="rect">
            <a:avLst/>
          </a:prstGeom>
        </p:spPr>
      </p:pic>
      <p:pic>
        <p:nvPicPr>
          <p:cNvPr id="10" name="Picture 9" descr="Pictur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3701415"/>
            <a:ext cx="1905000" cy="1905000"/>
          </a:xfrm>
          <a:prstGeom prst="rect">
            <a:avLst/>
          </a:prstGeom>
        </p:spPr>
      </p:pic>
      <p:pic>
        <p:nvPicPr>
          <p:cNvPr id="12" name="Picture 11" descr="stackover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820" y="4133215"/>
            <a:ext cx="2656205" cy="1040130"/>
          </a:xfrm>
          <a:prstGeom prst="rect">
            <a:avLst/>
          </a:prstGeom>
        </p:spPr>
      </p:pic>
      <p:sp>
        <p:nvSpPr>
          <p:cNvPr id="4" name="Google Shape;131;p5"/>
          <p:cNvSpPr txBox="1"/>
          <p:nvPr/>
        </p:nvSpPr>
        <p:spPr>
          <a:xfrm>
            <a:off x="1328420" y="1867535"/>
            <a:ext cx="3992245" cy="166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PowerAmc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GanttProject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https://stackoverflow.com/</a:t>
            </a:r>
            <a:endParaRPr lang="fr-FR" sz="24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dk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 </a:t>
            </a: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9566275" y="924560"/>
            <a:ext cx="2181860" cy="26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83" name="Google Shape;131;p5"/>
          <p:cNvSpPr txBox="1"/>
          <p:nvPr/>
        </p:nvSpPr>
        <p:spPr>
          <a:xfrm>
            <a:off x="4565015" y="2188845"/>
            <a:ext cx="3061970" cy="109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fr-FR" sz="720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  <a:hlinkClick r:id="rId1" tooltip="" action="ppaction://hlinkfile"/>
              </a:rPr>
              <a:t>VIDEO</a:t>
            </a:r>
            <a:endParaRPr lang="fr-FR" sz="720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  <a:hlinkClick r:id="rId2" action="ppaction://hlinkfi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6" name="Google Shape;127;p5"/>
          <p:cNvSpPr txBox="1"/>
          <p:nvPr/>
        </p:nvSpPr>
        <p:spPr>
          <a:xfrm>
            <a:off x="328627" y="911567"/>
            <a:ext cx="37115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4" name="Google Shape;134;p5"/>
          <p:cNvSpPr/>
          <p:nvPr/>
        </p:nvSpPr>
        <p:spPr>
          <a:xfrm>
            <a:off x="387535" y="7253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</a:t>
            </a: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0646410" y="924560"/>
            <a:ext cx="1101725" cy="23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0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Perspectives</a:t>
            </a:r>
            <a:endParaRPr lang="fr-FR" sz="1200" b="0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5" name="Google Shape;131;p5"/>
          <p:cNvSpPr txBox="1"/>
          <p:nvPr/>
        </p:nvSpPr>
        <p:spPr>
          <a:xfrm>
            <a:off x="1328420" y="1867535"/>
            <a:ext cx="882840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Mise en place d’une application mobile </a:t>
            </a:r>
            <a:r>
              <a:rPr lang="fr-FR" sz="2400" dirty="0" err="1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fonctionnelle</a:t>
            </a:r>
            <a:endParaRPr lang="fr-FR" sz="2400" dirty="0" smtClean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Apprentissage </a:t>
            </a: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autonome de la programmation </a:t>
            </a: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mobile</a:t>
            </a:r>
            <a:endParaRPr lang="fr-FR" sz="2400" dirty="0" smtClean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indent="-285750"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Programmation avec </a:t>
            </a:r>
            <a:r>
              <a:rPr lang="fr-FR" sz="2400" dirty="0" err="1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Kotlin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Utilisation de </a:t>
            </a:r>
            <a:r>
              <a:rPr lang="fr-FR" sz="2400" dirty="0" err="1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Firebase</a:t>
            </a: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pour le développement d’application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indent="-285750"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Expérience </a:t>
            </a: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de travail en équipe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14;p5"/>
          <p:cNvSpPr/>
          <p:nvPr/>
        </p:nvSpPr>
        <p:spPr>
          <a:xfrm>
            <a:off x="2313940" y="171450"/>
            <a:ext cx="150939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Contexte général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5" name="Google Shape;121;p5"/>
          <p:cNvSpPr/>
          <p:nvPr/>
        </p:nvSpPr>
        <p:spPr>
          <a:xfrm>
            <a:off x="415925" y="171450"/>
            <a:ext cx="143129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Introduction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69" name="Google Shape;114;p5"/>
          <p:cNvSpPr/>
          <p:nvPr/>
        </p:nvSpPr>
        <p:spPr>
          <a:xfrm>
            <a:off x="4290060" y="169545"/>
            <a:ext cx="1447800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Analyse et conception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0" name="Google Shape;114;p5"/>
          <p:cNvSpPr/>
          <p:nvPr/>
        </p:nvSpPr>
        <p:spPr>
          <a:xfrm>
            <a:off x="6180455" y="169545"/>
            <a:ext cx="160845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Environnement et langages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1" name="Google Shape;114;p5"/>
          <p:cNvSpPr/>
          <p:nvPr/>
        </p:nvSpPr>
        <p:spPr>
          <a:xfrm>
            <a:off x="8207375" y="172085"/>
            <a:ext cx="1530985" cy="520700"/>
          </a:xfrm>
          <a:prstGeom prst="roundRect">
            <a:avLst>
              <a:gd name="adj" fmla="val 16667"/>
            </a:avLst>
          </a:prstGeom>
          <a:solidFill>
            <a:srgbClr val="D7D7D7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tx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Démonstration</a:t>
            </a:r>
            <a:endParaRPr lang="fr-FR" sz="1400" b="0" i="0" u="none" strike="noStrike" cap="none">
              <a:solidFill>
                <a:schemeClr val="tx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72" name="Google Shape;114;p5"/>
          <p:cNvSpPr/>
          <p:nvPr/>
        </p:nvSpPr>
        <p:spPr>
          <a:xfrm>
            <a:off x="10156825" y="160020"/>
            <a:ext cx="1517650" cy="520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2700" cap="flat" cmpd="sng">
            <a:solidFill>
              <a:srgbClr val="D7D7D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r>
              <a:rPr lang="fr-FR" sz="1400" b="0" i="0" u="none" strike="noStrike" cap="none">
                <a:solidFill>
                  <a:schemeClr val="bg1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Conclusion et perspectives</a:t>
            </a:r>
            <a:endParaRPr lang="fr-FR" sz="1400" b="0" i="0" u="none" strike="noStrike" cap="none">
              <a:solidFill>
                <a:schemeClr val="bg1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Google Shape;133;p5"/>
          <p:cNvSpPr/>
          <p:nvPr/>
        </p:nvSpPr>
        <p:spPr>
          <a:xfrm>
            <a:off x="11454882" y="724998"/>
            <a:ext cx="225444" cy="218394"/>
          </a:xfrm>
          <a:prstGeom prst="ellipse">
            <a:avLst/>
          </a:prstGeom>
          <a:solidFill>
            <a:srgbClr val="1155CC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6" name="Google Shape;115;p5"/>
          <p:cNvSpPr/>
          <p:nvPr/>
        </p:nvSpPr>
        <p:spPr>
          <a:xfrm>
            <a:off x="9821561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7" name="Google Shape;115;p5"/>
          <p:cNvSpPr/>
          <p:nvPr/>
        </p:nvSpPr>
        <p:spPr>
          <a:xfrm>
            <a:off x="7872111" y="362545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8" name="Google Shape;115;p5"/>
          <p:cNvSpPr/>
          <p:nvPr/>
        </p:nvSpPr>
        <p:spPr>
          <a:xfrm>
            <a:off x="5845191" y="35937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79" name="Google Shape;115;p5"/>
          <p:cNvSpPr/>
          <p:nvPr/>
        </p:nvSpPr>
        <p:spPr>
          <a:xfrm>
            <a:off x="393066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80" name="Google Shape;115;p5"/>
          <p:cNvSpPr/>
          <p:nvPr/>
        </p:nvSpPr>
        <p:spPr>
          <a:xfrm>
            <a:off x="1954546" y="370800"/>
            <a:ext cx="252000" cy="14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>
            <a:solidFill>
              <a:srgbClr val="1155CC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4" name="Google Shape;132;p5"/>
          <p:cNvSpPr txBox="1"/>
          <p:nvPr/>
        </p:nvSpPr>
        <p:spPr>
          <a:xfrm>
            <a:off x="612775" y="1408430"/>
            <a:ext cx="748665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fr-FR" sz="2400" b="1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Perspectives</a:t>
            </a:r>
            <a:r>
              <a:rPr lang="fr-FR" sz="2400" b="1"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</a:t>
            </a:r>
            <a:endParaRPr lang="fr-FR" sz="2400" b="1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" name="Google Shape;129;p5"/>
          <p:cNvSpPr txBox="1"/>
          <p:nvPr/>
        </p:nvSpPr>
        <p:spPr>
          <a:xfrm>
            <a:off x="10617835" y="924560"/>
            <a:ext cx="1130300" cy="22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sz="12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Century Gothic" panose="020B0502020202020204"/>
                <a:cs typeface="Times New Roman" panose="02020603050405020304" charset="0"/>
                <a:sym typeface="Century Gothic" panose="020B0502020202020204"/>
              </a:rPr>
              <a:t>Perspectives</a:t>
            </a:r>
            <a:endParaRPr lang="fr-FR" sz="1200" b="1" i="0" u="none" strike="noStrike" cap="none">
              <a:solidFill>
                <a:srgbClr val="000000"/>
              </a:solidFill>
              <a:latin typeface="Times New Roman" panose="02020603050405020304" charset="0"/>
              <a:ea typeface="Century Gothic" panose="020B0502020202020204"/>
              <a:cs typeface="Times New Roman" panose="02020603050405020304" charset="0"/>
              <a:sym typeface="Century Gothic" panose="020B0502020202020204"/>
            </a:endParaRPr>
          </a:p>
        </p:txBody>
      </p:sp>
      <p:sp>
        <p:nvSpPr>
          <p:cNvPr id="5" name="Google Shape;131;p5"/>
          <p:cNvSpPr txBox="1"/>
          <p:nvPr/>
        </p:nvSpPr>
        <p:spPr>
          <a:xfrm>
            <a:off x="1328420" y="1867535"/>
            <a:ext cx="995743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Multilinguisme</a:t>
            </a:r>
            <a:endParaRPr lang="fr-FR" sz="2400" dirty="0" smtClean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Notifications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Suggestions </a:t>
            </a: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 s'appuyant sur les expériences des utilisateurs </a:t>
            </a: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précédents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Partage d’objectif avec des proches dans les réseaux sociaux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Inviter des gens à installer l’application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Développez une version iOS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fr-FR" sz="2400" dirty="0" smtClean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Mise </a:t>
            </a:r>
            <a:r>
              <a:rPr lang="fr-FR" sz="2400" dirty="0">
                <a:solidFill>
                  <a:schemeClr val="dk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 ligne sur Google Play</a:t>
            </a:r>
            <a:endParaRPr lang="fr-FR" sz="2400" dirty="0">
              <a:solidFill>
                <a:schemeClr val="dk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17;p5" descr="Résultat de recherche d'images pour &quot;vision imag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118;p5" descr="Résultat de recherche d'images pour &quot;vision image&quot;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119;p5" descr="Image associée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Google Shape;130;p5"/>
          <p:cNvSpPr txBox="1"/>
          <p:nvPr/>
        </p:nvSpPr>
        <p:spPr>
          <a:xfrm>
            <a:off x="4913436" y="910800"/>
            <a:ext cx="21186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3" name="Google Shape;87;p1"/>
          <p:cNvCxnSpPr/>
          <p:nvPr/>
        </p:nvCxnSpPr>
        <p:spPr>
          <a:xfrm>
            <a:off x="389255" y="824865"/>
            <a:ext cx="11300460" cy="127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95" name="Google Shape;795;p30"/>
          <p:cNvSpPr txBox="1"/>
          <p:nvPr/>
        </p:nvSpPr>
        <p:spPr>
          <a:xfrm>
            <a:off x="2027545" y="2874340"/>
            <a:ext cx="8136900" cy="11079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 panose="020B0604020202020204"/>
              <a:buNone/>
            </a:pPr>
            <a:r>
              <a:rPr lang="fr-FR" sz="5400" b="1" i="0" u="none" strike="noStrike" cap="none">
                <a:solidFill>
                  <a:srgbClr val="4472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 pour votre attention</a:t>
            </a:r>
            <a:endParaRPr lang="fr-FR" sz="5400" b="1" i="0" u="none" strike="noStrike" cap="none">
              <a:solidFill>
                <a:srgbClr val="4472C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523" y="211138"/>
            <a:ext cx="2295525" cy="10864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1"/>
          <p:cNvSpPr txBox="1"/>
          <p:nvPr/>
        </p:nvSpPr>
        <p:spPr>
          <a:xfrm>
            <a:off x="2550160" y="324485"/>
            <a:ext cx="7091045" cy="8597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 i="0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Royaume du Maroc</a:t>
            </a:r>
            <a:endParaRPr sz="1200" b="0" i="0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UNIVERSITÉ</a:t>
            </a:r>
            <a:r>
              <a:rPr lang="fr-FR" sz="1200" b="1" i="0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IBN ZOHR</a:t>
            </a:r>
            <a:endParaRPr sz="1200" b="0" i="0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FACULTÉ DES SCIENCES</a:t>
            </a:r>
            <a:r>
              <a:rPr lang="fr-FR"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AGADIR</a:t>
            </a:r>
            <a:endParaRPr sz="1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r>
              <a:rPr lang="fr-FR" sz="1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Département Informatique</a:t>
            </a:r>
            <a:endParaRPr sz="1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" name="Google Shape;99;p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91883" y="224647"/>
            <a:ext cx="984150" cy="10737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3556000" y="15417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b="1" i="1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Projet de Fin d’Etudes</a:t>
            </a:r>
            <a:endParaRPr lang="en-US"/>
          </a:p>
        </p:txBody>
      </p:sp>
      <p:cxnSp>
        <p:nvCxnSpPr>
          <p:cNvPr id="10" name="Google Shape;87;p1"/>
          <p:cNvCxnSpPr/>
          <p:nvPr/>
        </p:nvCxnSpPr>
        <p:spPr>
          <a:xfrm flipV="1">
            <a:off x="415290" y="1414145"/>
            <a:ext cx="11522075" cy="12065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3555365" y="226758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18770" algn="ctr"/>
            <a:r>
              <a:rPr lang="en-US" b="0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Filière Sciences Mathématiques et Informatique</a:t>
            </a:r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3410585" y="2993390"/>
            <a:ext cx="5532755" cy="110426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/>
            <a:r>
              <a:rPr lang="en-US" b="1">
                <a:latin typeface="Times New Roman" panose="02020603050405020304" charset="0"/>
                <a:ea typeface="SimSun" panose="02010600030101010101" pitchFamily="2" charset="-122"/>
                <a:sym typeface="+mn-ea"/>
              </a:rPr>
              <a:t>Mise en place d’une application mobile pour gérer les objectifs personnels</a:t>
            </a:r>
            <a:endParaRPr lang="en-US"/>
          </a:p>
        </p:txBody>
      </p:sp>
      <p:sp>
        <p:nvSpPr>
          <p:cNvPr id="14" name="Google Shape;94;p1"/>
          <p:cNvSpPr txBox="1"/>
          <p:nvPr/>
        </p:nvSpPr>
        <p:spPr>
          <a:xfrm>
            <a:off x="911423" y="4691160"/>
            <a:ext cx="2384931" cy="110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Réalisé et soutenu par :</a:t>
            </a:r>
            <a:endParaRPr sz="1400" b="1" i="1" cap="none">
              <a:solidFill>
                <a:srgbClr val="4472C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 panose="02020404030301010803"/>
              <a:buNone/>
            </a:pPr>
            <a:r>
              <a:rPr lang="fr-FR" sz="1400"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Oussama ETTAOUIL</a:t>
            </a:r>
            <a:endParaRPr lang="fr-FR" sz="1400"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 panose="02020404030301010803"/>
              <a:buNone/>
            </a:pPr>
            <a:r>
              <a:rPr lang="fr-FR" sz="1400"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Oualid OUARRACH</a:t>
            </a:r>
            <a:endParaRPr lang="fr-FR" sz="1400"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</p:txBody>
      </p:sp>
      <p:sp>
        <p:nvSpPr>
          <p:cNvPr id="15" name="Google Shape;97;p1"/>
          <p:cNvSpPr txBox="1"/>
          <p:nvPr/>
        </p:nvSpPr>
        <p:spPr>
          <a:xfrm>
            <a:off x="4485784" y="4703892"/>
            <a:ext cx="2880320" cy="146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25" tIns="30950" rIns="61925" bIns="30950" anchor="t" anchorCtr="0">
            <a:noAutofit/>
          </a:bodyPr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Encadré Par :</a:t>
            </a:r>
            <a:endParaRPr lang="fr-FR" sz="1400" b="1" i="1" cap="none">
              <a:solidFill>
                <a:srgbClr val="4472C4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Times New Roman" panose="02020603050405020304"/>
              <a:buNone/>
            </a:pPr>
            <a:r>
              <a:rPr lang="fr-FR" sz="1400" b="0" i="0" cap="none">
                <a:solidFill>
                  <a:srgbClr val="000000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Mohamed BENSALAH </a:t>
            </a:r>
            <a:endParaRPr sz="1400" b="0" i="0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R="0" indent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b="0" i="0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6" name="Google Shape;95;p1"/>
          <p:cNvSpPr txBox="1"/>
          <p:nvPr/>
        </p:nvSpPr>
        <p:spPr>
          <a:xfrm>
            <a:off x="8215732" y="4691160"/>
            <a:ext cx="3397148" cy="105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400"/>
              <a:buFont typeface="Garamond" panose="02020404030301010803"/>
              <a:buNone/>
            </a:pPr>
            <a:r>
              <a:rPr lang="fr-FR" sz="1400" b="1" i="1" cap="none">
                <a:solidFill>
                  <a:srgbClr val="4472C4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Membres du jury :</a:t>
            </a:r>
            <a:endParaRPr sz="1400" b="0" i="0" cap="none">
              <a:solidFill>
                <a:srgbClr val="4472C4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  <a:p>
            <a:pPr marR="0" indent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Garamond" panose="02020404030301010803"/>
              <a:buNone/>
            </a:pPr>
            <a:r>
              <a:rPr lang="fr-FR" sz="1400" b="0" i="0" cap="none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</a:t>
            </a:r>
            <a:r>
              <a:rPr lang="fr-FR" sz="1400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Ayoub SABRAOUI</a:t>
            </a:r>
            <a:endParaRPr lang="fr-FR" sz="1400">
              <a:solidFill>
                <a:srgbClr val="0C0C0C"/>
              </a:solidFill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  <a:p>
            <a:pPr marR="0" indent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Garamond" panose="02020404030301010803"/>
              <a:buNone/>
            </a:pPr>
            <a:r>
              <a:rPr lang="fr-FR" sz="1400" b="0" i="0" cap="none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M. </a:t>
            </a:r>
            <a:r>
              <a:rPr lang="fr-FR" sz="1400">
                <a:solidFill>
                  <a:srgbClr val="0C0C0C"/>
                </a:solidFill>
                <a:latin typeface="Times New Roman" panose="02020603050405020304" charset="0"/>
                <a:ea typeface="Garamond" panose="02020404030301010803"/>
                <a:cs typeface="Times New Roman" panose="02020603050405020304" charset="0"/>
                <a:sym typeface="Garamond" panose="02020404030301010803"/>
              </a:rPr>
              <a:t>Brahim ALIBOUCH</a:t>
            </a:r>
            <a:endParaRPr sz="1400" b="0" i="0" cap="none">
              <a:solidFill>
                <a:srgbClr val="0C0C0C"/>
              </a:solidFill>
              <a:latin typeface="Times New Roman" panose="02020603050405020304" charset="0"/>
              <a:ea typeface="Garamond" panose="02020404030301010803"/>
              <a:cs typeface="Times New Roman" panose="02020603050405020304" charset="0"/>
              <a:sym typeface="Garamond" panose="02020404030301010803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636645" y="634174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b="0">
                <a:solidFill>
                  <a:srgbClr val="003366"/>
                </a:solidFill>
                <a:latin typeface="Times New Roman" panose="02020603050405020304" charset="0"/>
                <a:ea typeface="SimSun" panose="02010600030101010101" pitchFamily="2" charset="-122"/>
              </a:rPr>
              <a:t>Année universitaire 2022-2023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6179</Words>
  <Application>WPS Presentation</Application>
  <PresentationFormat>Grand écran</PresentationFormat>
  <Paragraphs>519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Times New Roman</vt:lpstr>
      <vt:lpstr>Calibri</vt:lpstr>
      <vt:lpstr>Garamond</vt:lpstr>
      <vt:lpstr>PMingLiU-ExtB</vt:lpstr>
      <vt:lpstr>Arial</vt:lpstr>
      <vt:lpstr>Noto Sans Symbols</vt:lpstr>
      <vt:lpstr>Segoe Print</vt:lpstr>
      <vt:lpstr>Century Gothic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OUALID</cp:lastModifiedBy>
  <cp:revision>332</cp:revision>
  <dcterms:created xsi:type="dcterms:W3CDTF">2023-05-29T22:18:00Z</dcterms:created>
  <dcterms:modified xsi:type="dcterms:W3CDTF">2023-06-02T15:16:28Z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8D9C8B736FFC4A9AA34689C2FD765844</vt:lpwstr>
  </property>
  <property fmtid="{D5CDD505-2E9C-101B-9397-08002B2CF9AE}" pid="3" name="KSOProductBuildVer">
    <vt:lpwstr>1033-11.2.0.11219</vt:lpwstr>
  </property>
</Properties>
</file>